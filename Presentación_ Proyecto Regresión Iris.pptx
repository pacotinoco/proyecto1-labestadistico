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SLIDES_API130939518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SLIDES_API130939518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SLIDES_API1309395186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SLIDES_API130939518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f4f59bbdb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f4f59bbdb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f4f59bbdb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f4f59bbdb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SLIDES_API1309395186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SLIDES_API130939518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SLIDES_API1309395186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SLIDES_API130939518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SLIDES_API1309395186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SLIDES_API1309395186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f4f59bbdb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f4f59bbdb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SLIDES_API1309395186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SLIDES_API1309395186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934103" y="1094058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de Regresión Lineal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Iris Flower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934100" y="2684383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Laboratorio Estadístico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Febrero 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Equipo: Francisco Tinoco, Juan Pedro Ley, David Rangel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(Repositorio: https://github.com/PacoTinoco/Proyecto1-LabEstadistico)</a:t>
            </a:r>
            <a:endParaRPr/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925" y="591108"/>
            <a:ext cx="1956531" cy="1631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Objetivos del Proyecto</a:t>
            </a:r>
            <a:endParaRPr b="1"/>
          </a:p>
        </p:txBody>
      </p:sp>
      <p:pic>
        <p:nvPicPr>
          <p:cNvPr id="136" name="Google Shape;13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346" y="1592600"/>
            <a:ext cx="3735251" cy="33070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 txBox="1"/>
          <p:nvPr>
            <p:ph idx="1" type="body"/>
          </p:nvPr>
        </p:nvSpPr>
        <p:spPr>
          <a:xfrm>
            <a:off x="449575" y="2022138"/>
            <a:ext cx="33756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 General: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Evaluar la capacidad predictiva de distintos modelos de regresión sobre las características morfológicas del Iris.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4921" y="1474762"/>
            <a:ext cx="3735251" cy="33070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4"/>
          <p:cNvSpPr txBox="1"/>
          <p:nvPr/>
        </p:nvSpPr>
        <p:spPr>
          <a:xfrm>
            <a:off x="5242550" y="1592600"/>
            <a:ext cx="3000000" cy="30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Objetivos Específicos: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Predecir longitud y ancho del pétalo, así como la longitud del sépalo.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Implementar y comparar cuatro variantes: OLS, Ridge (L2), Lasso (L1) y ElasticNet.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Analizar la significancia estadística de los factores en cada variable de respuesta.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>
            <p:ph type="title"/>
          </p:nvPr>
        </p:nvSpPr>
        <p:spPr>
          <a:xfrm>
            <a:off x="2282200" y="3807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El Dataset Iris</a:t>
            </a:r>
            <a:endParaRPr b="1"/>
          </a:p>
        </p:txBody>
      </p:sp>
      <p:sp>
        <p:nvSpPr>
          <p:cNvPr id="145" name="Google Shape;145;p15"/>
          <p:cNvSpPr txBox="1"/>
          <p:nvPr>
            <p:ph idx="1" type="body"/>
          </p:nvPr>
        </p:nvSpPr>
        <p:spPr>
          <a:xfrm>
            <a:off x="1840225" y="9772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Origen: Introducido por el estadístico Ronald Fisher en 1936.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1535425"/>
            <a:ext cx="8519176" cy="28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188" y="902525"/>
            <a:ext cx="8502325" cy="34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ctrTitle"/>
          </p:nvPr>
        </p:nvSpPr>
        <p:spPr>
          <a:xfrm>
            <a:off x="1584378" y="1990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Pipeline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38" y="1223700"/>
            <a:ext cx="8724924" cy="347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919100" y="3013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Modelos propuestos :</a:t>
            </a:r>
            <a:endParaRPr b="1"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819150" y="13477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18" title="Desig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040625"/>
            <a:ext cx="6562099" cy="366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123950" y="2969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Resultados y Rendimiento (R²)</a:t>
            </a:r>
            <a:endParaRPr b="1"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373500" y="855375"/>
            <a:ext cx="8503800" cy="18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Alta Predictibilidad en Pétalos: Los Modelos 1 y 2 obtuvieron un R² superior a 0.93 tanto en entrenamiento como en prueba.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Menor Correlación en Sépalos: El Modelo 3 alcanzó un R² más bajo, de aproximadamente 0.78.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Regularización: Las variantes penalizadas (Ridge, Lasso, ElasticNet) no mostraron mejoras significativas frente a OLS.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Generalización: La diferencia mínima entre entrenamiento y prueba confirma la ausencia de sobreajuste severo.</a:t>
            </a:r>
            <a:endParaRPr/>
          </a:p>
        </p:txBody>
      </p:sp>
      <p:pic>
        <p:nvPicPr>
          <p:cNvPr id="173" name="Google Shape;17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50" y="2865075"/>
            <a:ext cx="8747750" cy="210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906625" y="2610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Análisis de Significancia (Pétalos)</a:t>
            </a:r>
            <a:endParaRPr b="1"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819150" y="11144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Criterio: Un factor es estadísticamente significativo si su p-value &lt; 0.05.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75" y="1858450"/>
            <a:ext cx="8648700" cy="246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1570650" y="1943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Hallazgos principales :</a:t>
            </a:r>
            <a:endParaRPr b="1"/>
          </a:p>
        </p:txBody>
      </p:sp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659125" y="1571625"/>
            <a:ext cx="4960200" cy="24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2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lang="en" sz="4202">
                <a:solidFill>
                  <a:srgbClr val="1E293B"/>
                </a:solidFill>
              </a:rPr>
              <a:t>Pétalos altamente correlacionados → R² &gt; 0.94</a:t>
            </a:r>
            <a:endParaRPr sz="4202">
              <a:solidFill>
                <a:srgbClr val="1E293B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4202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lang="en" sz="4202">
                <a:solidFill>
                  <a:srgbClr val="1E293B"/>
                </a:solidFill>
              </a:rPr>
              <a:t>Especie es factor significativo para predecir pétalos</a:t>
            </a:r>
            <a:endParaRPr sz="4202">
              <a:solidFill>
                <a:srgbClr val="1E293B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4202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lang="en" sz="4202">
                <a:solidFill>
                  <a:srgbClr val="1E293B"/>
                </a:solidFill>
              </a:rPr>
              <a:t>Sépalo más difícil de predecir (R² ~ 0.78)</a:t>
            </a:r>
            <a:endParaRPr sz="4202">
              <a:solidFill>
                <a:srgbClr val="1E293B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4202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lang="en" sz="4202">
                <a:solidFill>
                  <a:srgbClr val="1E293B"/>
                </a:solidFill>
              </a:rPr>
              <a:t>Modelos penalizados no mejoran significativamente sobre OLS</a:t>
            </a:r>
            <a:endParaRPr sz="4202">
              <a:solidFill>
                <a:srgbClr val="1E293B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0" r="46929" t="0"/>
          <a:stretch/>
        </p:blipFill>
        <p:spPr>
          <a:xfrm>
            <a:off x="6099175" y="1299075"/>
            <a:ext cx="2709926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>
            <p:ph type="title"/>
          </p:nvPr>
        </p:nvSpPr>
        <p:spPr>
          <a:xfrm>
            <a:off x="2030725" y="2588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Conclusiones</a:t>
            </a:r>
            <a:endParaRPr b="1"/>
          </a:p>
        </p:txBody>
      </p:sp>
      <p:sp>
        <p:nvSpPr>
          <p:cNvPr id="193" name="Google Shape;193;p22"/>
          <p:cNvSpPr txBox="1"/>
          <p:nvPr>
            <p:ph idx="1" type="body"/>
          </p:nvPr>
        </p:nvSpPr>
        <p:spPr>
          <a:xfrm>
            <a:off x="1047750" y="1259250"/>
            <a:ext cx="7736400" cy="26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Char char="●"/>
            </a:pPr>
            <a:r>
              <a:rPr lang="en" sz="1400">
                <a:solidFill>
                  <a:srgbClr val="1E293B"/>
                </a:solidFill>
              </a:rPr>
              <a:t>Las dimensiones de los pétalos están fuertemente relacionadas entre sí</a:t>
            </a:r>
            <a:endParaRPr sz="1400">
              <a:solidFill>
                <a:srgbClr val="1E293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E293B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1400"/>
              <a:buChar char="●"/>
            </a:pPr>
            <a:r>
              <a:rPr lang="en" sz="1400">
                <a:solidFill>
                  <a:srgbClr val="1E293B"/>
                </a:solidFill>
              </a:rPr>
              <a:t>La especie biológica es un factor determinante para pronosticar las características de los pétalos, pero no así para los sépalos.</a:t>
            </a:r>
            <a:endParaRPr sz="1400">
              <a:solidFill>
                <a:srgbClr val="1E293B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E293B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1400"/>
              <a:buChar char="●"/>
            </a:pPr>
            <a:r>
              <a:rPr lang="en" sz="1400">
                <a:solidFill>
                  <a:srgbClr val="1E293B"/>
                </a:solidFill>
              </a:rPr>
              <a:t>Dado el tamaño compacto del dataset (150 muestras y 5 variables), la regresión lineal tradicional (OLS) es suficiente; las técnicas de regularización no aportan ventajas sustanciales</a:t>
            </a:r>
            <a:endParaRPr sz="1400">
              <a:solidFill>
                <a:srgbClr val="1E293B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E293B"/>
                </a:solidFill>
              </a:rPr>
              <a:t>.</a:t>
            </a:r>
            <a:endParaRPr sz="1400">
              <a:solidFill>
                <a:srgbClr val="1E293B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1400"/>
              <a:buChar char="●"/>
            </a:pPr>
            <a:r>
              <a:rPr lang="en" sz="1400">
                <a:solidFill>
                  <a:srgbClr val="1E293B"/>
                </a:solidFill>
              </a:rPr>
              <a:t>Todo el código fuente y el pipeline están disponibles en nuestro repositorio.</a:t>
            </a:r>
            <a:endParaRPr sz="1400">
              <a:solidFill>
                <a:srgbClr val="1E293B"/>
              </a:solidFill>
            </a:endParaRPr>
          </a:p>
        </p:txBody>
      </p:sp>
      <p:pic>
        <p:nvPicPr>
          <p:cNvPr id="194" name="Google Shape;1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700" y="1213450"/>
            <a:ext cx="400050" cy="311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